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71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96867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05e1d72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e05e1d72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30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05e1d7200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e05e1d7200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022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e05e1d7200_0_1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e05e1d7200_0_1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840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3108-486F-3F30-F8FE-56C4BD7D9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2361F-5EE3-2FB2-F160-562C7777B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A8470-C97C-91D0-BD5B-6D10F9BAD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D44D9-B74D-FBDE-2D9D-7BE41EAF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6D7DD-8FC9-BEF9-B57C-71E15E6A7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0733171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A0E34-54EC-FDDE-F310-554CB5AC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FFC61-C76A-D4F4-DFDA-92FC7E28A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92B35-A563-909B-CBE3-6C8DFE53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32D16-98F7-DAC1-A4B8-650ADBED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12F6-C08D-7F0D-EBF7-C6BEAFC6D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8306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D42D-33DF-8D5F-F36B-0FF7C5E2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94A19-0D98-DD1C-89FD-B266A0CEC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FA636-70EB-B1F3-B85F-AE81C84F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C8D40-E48A-D72D-A537-C2CE2E0C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6C90B-D676-4134-A7BE-CEC3B48B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895740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767B-D2B8-3F6F-EBF1-109E4841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09E48-5AA6-F974-6C35-E1D919478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DD78D-20CE-DC5C-9B97-1AFFD728C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0C35D-75D6-EC71-5B9D-CA85D896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2AE48-FFE9-43D3-1E70-73D6A57B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B5639-38A3-C395-404D-ECDDA42B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96627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D18D-0A77-01C2-DFC1-088B98DB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AD25F-4E78-B1EA-E2F9-E607194D6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AD9B2-AAB6-F1FD-7D08-8B0F64507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060E2-F039-1B2D-1920-1353428DC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A4F8C-5BF3-9F25-4397-C221E0E87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1E7AD-FAA3-FF25-1A70-06DBE029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7DE8E-2650-A60F-66C1-C4FC425D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44997-BF82-BF6D-5CB5-378C86BAB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306377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E95A-646A-42D8-DC3D-999C9916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CA42F-87DD-5354-2828-A6D755A70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D01B9-677B-D06E-03F1-AEEAE77C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B5FCB-2DE2-48C5-67C9-AFB72A5A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457328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273E17-4326-4ED5-CBFD-2B1C9E7A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91DA10-2E9A-2BA0-2350-C91813B3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6C525-89C0-89E6-C37D-DD3D72C2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EB8F1-BD57-4353-AFCD-7E6B866A0B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61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072B9-335A-484B-F2B9-96447713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B710-C772-E5F8-7EDF-9289E5E81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DF31-2F8E-A24E-C510-10D14CA56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DF26A-3C66-E9C3-2460-C7E20B9C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C748A-D7F1-C7EA-4D7D-93E50A2C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4E82C-A72E-534A-59E4-E38E4459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931701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70EE-59CE-1319-47EB-A4038AE05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D70C1-C69B-4D46-BA22-DF316C26A2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D64D0-2623-80CE-199D-9C2E9E4A6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D77C9-E124-F059-BBA8-E0234428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CB332-06A5-B926-AA37-7B376A0ED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85BFF-060C-D566-6C9B-3B2C2C3C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982347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7F7A-ABD6-4CD6-5891-9B30EFDD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25838-0176-163E-A0DB-BD015138E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3CDD-D2E0-A65F-9552-FC1CED698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1668-FFF7-7466-1A42-78165B8E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A20EC-786A-BB66-7876-F8BC3FD3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444740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7B923-0647-57C1-96A8-709026CE0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0308A-6A6F-A33A-C5D5-1DCDB567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236FC-5940-9491-5287-9184F6DA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95082-D015-629D-D598-803C8D10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49A0B-721A-7074-97A9-2BE2C217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24049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179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527A8-D36D-C998-C389-A932C2BB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A70E0-AB6F-641C-EB7D-92473C2B2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EE4F3-05CA-0B6A-A837-28109A78E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89925-7AC9-4DCC-AB03-251ADFA416EB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D445B-49AD-3BB7-DB31-8223E2D86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C9B58-F0D4-932A-F113-6D7D33819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70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426" y="260118"/>
            <a:ext cx="2857143" cy="990476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9"/>
          <p:cNvSpPr txBox="1"/>
          <p:nvPr/>
        </p:nvSpPr>
        <p:spPr>
          <a:xfrm>
            <a:off x="104078" y="2121263"/>
            <a:ext cx="9144000" cy="108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b" anchorCtr="0">
            <a:normAutofit fontScale="4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59" dirty="0">
                <a:solidFill>
                  <a:srgbClr val="72865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4210" dirty="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sz="6000" b="1" dirty="0">
                <a:solidFill>
                  <a:srgbClr val="728653"/>
                </a:solidFill>
                <a:latin typeface="Century Gothic"/>
              </a:rPr>
              <a:t>Handwritten Digit Recognition Using Convolutional Neural Networks: A Deep Learning Approach</a:t>
            </a:r>
          </a:p>
        </p:txBody>
      </p:sp>
      <p:sp>
        <p:nvSpPr>
          <p:cNvPr id="706" name="Google Shape;706;p39"/>
          <p:cNvSpPr txBox="1"/>
          <p:nvPr/>
        </p:nvSpPr>
        <p:spPr>
          <a:xfrm>
            <a:off x="0" y="3297811"/>
            <a:ext cx="9144000" cy="1549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Presented by</a:t>
            </a:r>
            <a:endParaRPr sz="16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Abhay Singh</a:t>
            </a:r>
            <a:endParaRPr sz="16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/>
              <a:t>(223025001)</a:t>
            </a:r>
            <a:endParaRPr sz="16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Date: May 2026</a:t>
            </a:r>
            <a:endParaRPr sz="16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625359" y="1343400"/>
            <a:ext cx="81222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College of Smart Computing</a:t>
            </a:r>
            <a:endParaRPr sz="702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COER University, Roorkee, Uttarakhand, India. </a:t>
            </a:r>
            <a:endParaRPr sz="1559" b="1" dirty="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2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0"/>
          <p:cNvSpPr txBox="1">
            <a:spLocks noGrp="1"/>
          </p:cNvSpPr>
          <p:nvPr>
            <p:ph type="title"/>
          </p:nvPr>
        </p:nvSpPr>
        <p:spPr>
          <a:xfrm>
            <a:off x="980298" y="86100"/>
            <a:ext cx="58008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1656550" y="1369063"/>
            <a:ext cx="3857100" cy="24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3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 Introduction &amp; Problem Statement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3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 Dataset Description (MNIST)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3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 Methodology — Data Preprocessing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3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 Methodology — CNN Architecture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3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  Methodology — Training Strategy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🠶"/>
            </a:pPr>
            <a:r>
              <a:rPr lang="en" sz="13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  Results — Training Performance</a:t>
            </a:r>
            <a:endParaRPr sz="1559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1"/>
          <p:cNvSpPr txBox="1">
            <a:spLocks noGrp="1"/>
          </p:cNvSpPr>
          <p:nvPr>
            <p:ph type="title"/>
          </p:nvPr>
        </p:nvSpPr>
        <p:spPr>
          <a:xfrm>
            <a:off x="3318368" y="156668"/>
            <a:ext cx="25350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0" name="TextBox 719"/>
          <p:cNvSpPr txBox="1"/>
          <p:nvPr/>
        </p:nvSpPr>
        <p:spPr>
          <a:xfrm>
            <a:off x="300000" y="80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Background &amp; Motivation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300000" y="1150000"/>
            <a:ext cx="425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Handwritten Digit Recognition (HDR) — classify images of digits 0–9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Fundamental problem in computer vision with real-world impact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Postal services: auto-read ZIP codes (billions of items/year)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Banking: process handwritten cheque amounts (millions/day)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Healthcare: read prescription numbers &amp; patient IDs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Mobile devices: on-screen handwriting input keyboards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4750000" y="80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Problem &amp; Proposed Solution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4750000" y="1150000"/>
            <a:ext cx="415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Traditional ML (SVM, k-NN) needs hand-crafted features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MLP flattens image → loses all spatial pixel relationships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784 inputs × 512 neurons = 401K params in first layer alone!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Proposed: CNN preserves 2D structure via sliding filters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Automatic feature learning: edges → curves → digit shapes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Deployed as real-time Streamlit web application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200000" y="3500000"/>
            <a:ext cx="8700000" cy="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53010"/>
                </a:solidFill>
                <a:latin typeface="Century Gothic"/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200000" y="3600000"/>
            <a:ext cx="8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B3A5C"/>
                </a:solidFill>
                <a:latin typeface="Century Gothic"/>
              </a:rPr>
              <a:t>Abstract: A CNN trained on 60,000 MNIST images (28×28 grayscale) achieves 98.91% test accuracy. Architecture: Conv2D(32)→Conv2D(64)→MaxPool→Dropout→Dense(128)→BatchNorm→Dense(10,Softmax). Regularised with Dropout(0.25 &amp; 0.50) and BatchNormalization. Deployed via interactive Streamlit web application with real-time canvas drawing.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50429" y="109480"/>
            <a:ext cx="51991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Dataset Description — MNIST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0000" y="680000"/>
            <a:ext cx="4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0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MNIST 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150000"/>
            <a:ext cx="42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Modified National Institute of Standards &amp; Technology (1998)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70,000 grayscale images of handwritten digits 0–9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Training set: 60,000 images | Test set: 10,000 images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Resolution: 28 × 28 pixels, single grayscale channel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White digit on black background (anti-aliased edges)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Digits centered by centre-of-mass, scaled to 20×20 within frame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Roughly balanced: ~5,500–7,000 samples per class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De facto standard benchmark — used since LeNet-5 (1998)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0514"/>
              </p:ext>
            </p:extLst>
          </p:nvPr>
        </p:nvGraphicFramePr>
        <p:xfrm>
          <a:off x="4700000" y="1130000"/>
          <a:ext cx="41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Property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Total Images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70,000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Training Set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60,000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Test Set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Image Size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28 × 28 px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Colour 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Grayscale (1 ch)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Pixel Range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 (black)–255 (white)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Classes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10 (digits 0–9)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Format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White digit on black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Class Balance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~5,500–7,000 / class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0000" y="4000000"/>
            <a:ext cx="8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Class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43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5C"/>
                </a:solidFill>
                <a:latin typeface="Consolas"/>
              </a:rPr>
              <a:t>Digit 0: 5,923 | Digit 1: 6,742 | Digit 2: 5,958 | Digit 3: 6,131 | Digit 4: 5,842
Digit 5: 5,421 | Digit 6: 5,918 | Digit 7: 6,265 | Digit 8: 5,851 | Digit 9: 5,949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4800000"/>
            <a:ext cx="8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28653"/>
                </a:solidFill>
                <a:latin typeface="Century Gothic"/>
              </a:rPr>
              <a:t>✓ Near-uniform distribution — no significant class imbalance in MNIST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13678" y="78390"/>
            <a:ext cx="59166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Methodology — Data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0" y="680000"/>
            <a:ext cx="5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78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Step 1 — Reshaping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1080000"/>
            <a:ext cx="4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5C"/>
                </a:solidFill>
                <a:latin typeface="Consolas"/>
              </a:rPr>
              <a:t>Raw shape:   (60000, 28, 28)   [integer pixels]
Target shape: (60000, 28, 28, 1) [add channel dim]
CNNs require 4D input: (batch, H, W, channels)
Grayscale → channels = 1  (RGB would be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200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Step 2 — Normalisation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2300000"/>
            <a:ext cx="4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B3A5C"/>
                </a:solidFill>
                <a:latin typeface="Consolas"/>
              </a:rPr>
              <a:t>x = 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x.astype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('float32') / 255.0
Maps [0, 255] integers → [0.0, 1.0] floats
• Prevents exploding gradients during backprop
• Ensures uniform feature scale for optimizer
• Matches expected input range for 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ReLU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 + 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BatchNorm</a:t>
            </a:r>
            <a:endParaRPr sz="1000" b="0" i="0" dirty="0">
              <a:solidFill>
                <a:srgbClr val="1B3A5C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0000" y="3409698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Step 3 — One-Hot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3663500"/>
            <a:ext cx="4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B3A5C"/>
                </a:solidFill>
                <a:latin typeface="Consolas"/>
              </a:rPr>
              <a:t>keras.utils.to_categorical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(y, 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num_classes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=10)
Label 3 → [0, 0, 0, 1, 0, 0, 0, 0, 0, 0]
Label 7 → [0, 0, 0, 0, 0, 0, 0, 1, 0, 0]
Required by Categorical Cross-Entropy loss:
L = -Σ 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y_true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 × log(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y_pred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0" y="78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Pipeline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0" y="108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▶  Raw MNIST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0" y="108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5C"/>
                </a:solidFill>
                <a:latin typeface="Century Gothic"/>
              </a:rPr>
              <a:t>(N,28,28) uint8 [0-255]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0000" y="1370000"/>
            <a:ext cx="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entury Gothic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00" y="160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▶  Reshape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0" y="160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5C"/>
                </a:solidFill>
                <a:latin typeface="Century Gothic"/>
              </a:rPr>
              <a:t>(N,28,28,1) — add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0000" y="1890000"/>
            <a:ext cx="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entury Gothic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00" y="212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▶  Normalize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000" y="212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5C"/>
                </a:solidFill>
                <a:latin typeface="Century Gothic"/>
              </a:rPr>
              <a:t>÷ 255.0 → float32 [0,1]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0000" y="2410000"/>
            <a:ext cx="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entury Gothic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00" y="264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▶  One-Hot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000" y="264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5C"/>
                </a:solidFill>
                <a:latin typeface="Century Gothic"/>
              </a:rPr>
              <a:t>Labels → 10-dim vectors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0000" y="2930000"/>
            <a:ext cx="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entury Gothic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00" y="3160000"/>
            <a:ext cx="1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8B1A1A"/>
                </a:solidFill>
                <a:latin typeface="Century Gothic"/>
              </a:rPr>
              <a:t>▶  CNN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000" y="3160000"/>
            <a:ext cx="2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5C"/>
                </a:solidFill>
                <a:latin typeface="Century Gothic"/>
              </a:rPr>
              <a:t>Ready for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00" y="3405718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Augmentation (Training Only)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00" y="3825718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ImageDataGenerator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applied ONLY to training batches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Rotation: ±8°  |  Shift: ±8%  |  Zoom: ±8%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NOT applied to validation set (avoids inflated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val_loss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0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Balanced class weights: min(total/(10×count), 1.3×)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22722" y="160507"/>
            <a:ext cx="7098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Methodology — CNN Architecture (v4-final)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000" y="680000"/>
            <a:ext cx="59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006" y="1110000"/>
            <a:ext cx="37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8B1A1A"/>
                </a:solidFill>
                <a:latin typeface="Century Gothic"/>
              </a:rPr>
              <a:t>CNN Architecture Diagram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000000"/>
                </a:solidFill>
                <a:latin typeface="Consolas"/>
              </a:rPr>
              <a:t>  INPUT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28 × 28 × 1  grayscale image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1" dirty="0">
                <a:solidFill>
                  <a:srgbClr val="444444"/>
                </a:solidFill>
                <a:latin typeface="Consolas"/>
              </a:rPr>
              <a:t>  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──── BLOCK 1 ────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2E75B6"/>
                </a:solidFill>
                <a:latin typeface="Consolas"/>
              </a:rPr>
              <a:t>  Conv2D(32, 3×3, same)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(28,28,32)  320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728653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BatchNorm</a:t>
            </a:r>
            <a:r>
              <a:rPr sz="850" b="0" dirty="0">
                <a:solidFill>
                  <a:srgbClr val="728653"/>
                </a:solidFill>
                <a:latin typeface="Consolas"/>
              </a:rPr>
              <a:t> +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ReLU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(28,28,32)  128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2E75B6"/>
                </a:solidFill>
                <a:latin typeface="Consolas"/>
              </a:rPr>
              <a:t>  Conv2D(32, 3×3, same)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(28,28,32)  9,248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728653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BatchNorm</a:t>
            </a:r>
            <a:r>
              <a:rPr sz="850" b="0" dirty="0">
                <a:solidFill>
                  <a:srgbClr val="728653"/>
                </a:solidFill>
                <a:latin typeface="Consolas"/>
              </a:rPr>
              <a:t> +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ReLU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(28,28,32)  128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C0392B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C0392B"/>
                </a:solidFill>
                <a:latin typeface="Consolas"/>
              </a:rPr>
              <a:t>MaxPooling</a:t>
            </a:r>
            <a:r>
              <a:rPr sz="850" b="0" dirty="0">
                <a:solidFill>
                  <a:srgbClr val="C0392B"/>
                </a:solidFill>
                <a:latin typeface="Consolas"/>
              </a:rPr>
              <a:t>(2×2)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(14,14,32)  0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804000"/>
                </a:solidFill>
                <a:latin typeface="Consolas"/>
              </a:rPr>
              <a:t>  Dropout(0.20)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(14,14,32)  </a:t>
            </a:r>
            <a:r>
              <a:rPr sz="850" dirty="0" err="1">
                <a:solidFill>
                  <a:srgbClr val="444444"/>
                </a:solidFill>
                <a:latin typeface="Consolas"/>
              </a:rPr>
              <a:t>regularise</a:t>
            </a:r>
            <a:endParaRPr sz="850" dirty="0">
              <a:solidFill>
                <a:srgbClr val="444444"/>
              </a:solidFill>
              <a:latin typeface="Consolas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1" dirty="0">
                <a:solidFill>
                  <a:srgbClr val="444444"/>
                </a:solidFill>
                <a:latin typeface="Consolas"/>
              </a:rPr>
              <a:t>  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──── BLOCK 2 ────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2E75B6"/>
                </a:solidFill>
                <a:latin typeface="Consolas"/>
              </a:rPr>
              <a:t>  Conv2D(64, 3×3, same)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(14,14,64)  18,496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728653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BatchNorm</a:t>
            </a:r>
            <a:r>
              <a:rPr sz="850" b="0" dirty="0">
                <a:solidFill>
                  <a:srgbClr val="728653"/>
                </a:solidFill>
                <a:latin typeface="Consolas"/>
              </a:rPr>
              <a:t> +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ReLU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(14,14,64)  256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2E75B6"/>
                </a:solidFill>
                <a:latin typeface="Consolas"/>
              </a:rPr>
              <a:t>  Conv2D(64, 3×3, same)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(14,14,64)  36,928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728653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BatchNorm</a:t>
            </a:r>
            <a:r>
              <a:rPr sz="850" b="0" dirty="0">
                <a:solidFill>
                  <a:srgbClr val="728653"/>
                </a:solidFill>
                <a:latin typeface="Consolas"/>
              </a:rPr>
              <a:t> +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ReLU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(14,14,64)  256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C0392B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C0392B"/>
                </a:solidFill>
                <a:latin typeface="Consolas"/>
              </a:rPr>
              <a:t>MaxPooling</a:t>
            </a:r>
            <a:r>
              <a:rPr sz="850" b="0" dirty="0">
                <a:solidFill>
                  <a:srgbClr val="C0392B"/>
                </a:solidFill>
                <a:latin typeface="Consolas"/>
              </a:rPr>
              <a:t>(2×2)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(7,7,64)    0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804000"/>
                </a:solidFill>
                <a:latin typeface="Consolas"/>
              </a:rPr>
              <a:t>  Dropout(0.25)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(7,7,64)    </a:t>
            </a:r>
            <a:r>
              <a:rPr sz="850" dirty="0" err="1">
                <a:solidFill>
                  <a:srgbClr val="444444"/>
                </a:solidFill>
                <a:latin typeface="Consolas"/>
              </a:rPr>
              <a:t>regularise</a:t>
            </a:r>
            <a:endParaRPr sz="850" dirty="0">
              <a:solidFill>
                <a:srgbClr val="444444"/>
              </a:solidFill>
              <a:latin typeface="Consolas"/>
            </a:endParaR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1" dirty="0">
                <a:solidFill>
                  <a:srgbClr val="444444"/>
                </a:solidFill>
                <a:latin typeface="Consolas"/>
              </a:rPr>
              <a:t>  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──── HEAD ────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C0392B"/>
                </a:solidFill>
                <a:latin typeface="Consolas"/>
              </a:rPr>
              <a:t>  GlobalAvgPooling2D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(64,)        0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1B3A5C"/>
                </a:solidFill>
                <a:latin typeface="Consolas"/>
              </a:rPr>
              <a:t>  Dense(128, </a:t>
            </a:r>
            <a:r>
              <a:rPr sz="850" b="0" dirty="0" err="1">
                <a:solidFill>
                  <a:srgbClr val="1B3A5C"/>
                </a:solidFill>
                <a:latin typeface="Consolas"/>
              </a:rPr>
              <a:t>ReLU</a:t>
            </a:r>
            <a:r>
              <a:rPr sz="850" b="0" dirty="0">
                <a:solidFill>
                  <a:srgbClr val="1B3A5C"/>
                </a:solidFill>
                <a:latin typeface="Consolas"/>
              </a:rPr>
              <a:t>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(128,)       8,320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0" dirty="0">
                <a:solidFill>
                  <a:srgbClr val="728653"/>
                </a:solidFill>
                <a:latin typeface="Consolas"/>
              </a:rPr>
              <a:t>  </a:t>
            </a:r>
            <a:r>
              <a:rPr sz="850" b="0" dirty="0" err="1">
                <a:solidFill>
                  <a:srgbClr val="728653"/>
                </a:solidFill>
                <a:latin typeface="Consolas"/>
              </a:rPr>
              <a:t>BatchNorm+Dropout</a:t>
            </a:r>
            <a:r>
              <a:rPr sz="850" b="0" dirty="0">
                <a:solidFill>
                  <a:srgbClr val="728653"/>
                </a:solidFill>
                <a:latin typeface="Consolas"/>
              </a:rPr>
              <a:t>(0.35)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(128,)       512 params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50" b="1" dirty="0">
                <a:solidFill>
                  <a:srgbClr val="8B1A1A"/>
                </a:solidFill>
                <a:latin typeface="Consolas"/>
              </a:rPr>
              <a:t>  Dense(10, </a:t>
            </a:r>
            <a:r>
              <a:rPr sz="850" b="1" dirty="0" err="1">
                <a:solidFill>
                  <a:srgbClr val="8B1A1A"/>
                </a:solidFill>
                <a:latin typeface="Consolas"/>
              </a:rPr>
              <a:t>Softmax</a:t>
            </a:r>
            <a:r>
              <a:rPr sz="850" b="1" dirty="0">
                <a:solidFill>
                  <a:srgbClr val="8B1A1A"/>
                </a:solidFill>
                <a:latin typeface="Consolas"/>
              </a:rPr>
              <a:t>)</a:t>
            </a:r>
            <a:r>
              <a:rPr sz="850" dirty="0">
                <a:solidFill>
                  <a:srgbClr val="444444"/>
                </a:solidFill>
                <a:latin typeface="Consolas"/>
              </a:rPr>
              <a:t>  → (10,)        1,290 params</a:t>
            </a:r>
          </a:p>
          <a:p>
            <a:pPr>
              <a:spcBef>
                <a:spcPts val="400"/>
              </a:spcBef>
            </a:pPr>
            <a:r>
              <a:rPr sz="900" b="1" dirty="0">
                <a:solidFill>
                  <a:srgbClr val="C0392B"/>
                </a:solidFill>
                <a:latin typeface="Century Gothic"/>
              </a:rPr>
              <a:t>  ★ Total trainable params: ~76,754 (~77K)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0" y="780000"/>
            <a:ext cx="4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Layer-by-Layer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0" y="1150000"/>
            <a:ext cx="4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Conv2D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2994" y="1382117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1B3A5C"/>
                </a:solidFill>
                <a:latin typeface="Century Gothic"/>
              </a:rPr>
              <a:t>Slide 3×3 learnable filters across image. 32 filters detect edges/corners; 64 filters detect curves/loops. 'same' padding preserves spatial dimensions.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3497" y="1790000"/>
            <a:ext cx="4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8B1A1A"/>
                </a:solidFill>
                <a:latin typeface="Century Gothic"/>
              </a:rPr>
              <a:t>▸ </a:t>
            </a:r>
            <a:r>
              <a:rPr sz="1100" b="1" i="0" dirty="0" err="1">
                <a:solidFill>
                  <a:srgbClr val="8B1A1A"/>
                </a:solidFill>
                <a:latin typeface="Century Gothic"/>
              </a:rPr>
              <a:t>BatchNorm</a:t>
            </a:r>
            <a:r>
              <a:rPr sz="1100" b="1" i="0" dirty="0">
                <a:solidFill>
                  <a:srgbClr val="8B1A1A"/>
                </a:solidFill>
                <a:latin typeface="Century Gothic"/>
              </a:rPr>
              <a:t> + </a:t>
            </a:r>
            <a:r>
              <a:rPr sz="1100" b="1" i="0" dirty="0" err="1">
                <a:solidFill>
                  <a:srgbClr val="8B1A1A"/>
                </a:solidFill>
                <a:latin typeface="Century Gothic"/>
              </a:rPr>
              <a:t>ReLU</a:t>
            </a:r>
            <a:endParaRPr sz="1100" b="1" i="0" dirty="0">
              <a:solidFill>
                <a:srgbClr val="8B1A1A"/>
              </a:solidFill>
              <a:latin typeface="Century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00000" y="205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BatchNorm: normalise activations to μ=0, σ=1 per mini-batch. Allows higher learning rates, reduces internal covariate shift. ReLU: f(x)=max(0,x) — avoids vanishing gradients.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0" y="2470000"/>
            <a:ext cx="4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8B1A1A"/>
                </a:solidFill>
                <a:latin typeface="Century Gothic"/>
              </a:rPr>
              <a:t>▸ MaxPooling2D(2×2)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000" y="271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Retains max value in each 2×2 window. Halves spatial dims (translation invariance). Reduces computation by 75% per block.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0" y="3130000"/>
            <a:ext cx="4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Dropout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0" y="337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Block 1: 20% neurons randomly zeroed. Block 2: 25% neurons randomly zeroed. Head: 35%. Forces redundant feature learning.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000" y="3790000"/>
            <a:ext cx="4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GlobalAvgPooling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0" y="403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Replaces Flatten→Dense bottleneck. Computes spatial mean per feature map (7×7→1). Outputs compact 64-dim vector; fewer parameters.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0" y="4450000"/>
            <a:ext cx="4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Dense(10, Softmax)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0" y="4690000"/>
            <a:ext cx="4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Output layer. Softmax: e^zi / Σe^zj. Produces probability distribution over 10 classes. Predicted digit = argmax of output vector.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24770" y="141780"/>
            <a:ext cx="58504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Methodology — Training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00000" y="680000"/>
            <a:ext cx="5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78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Compilation Configuration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701371"/>
              </p:ext>
            </p:extLst>
          </p:nvPr>
        </p:nvGraphicFramePr>
        <p:xfrm>
          <a:off x="133092" y="1079843"/>
          <a:ext cx="3747532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9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2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Setting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Justification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26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Loss Function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CategoricalCrossentropy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Standard multi-class; label_smoothing=0.05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6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Optimizer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Adam (lr=1e-3)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Adaptive per-param LR; fast convergence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26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Metrics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Accuracy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Standard classification metric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26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Batch Size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256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Larger batches → fewer steps/epoch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26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Max Epochs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With EarlyStopping; actual: ~9-12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26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Val Split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10% (6,000 imgs)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No augmentation on validation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00000" y="3043512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Callbacks (Training Controls)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3390000"/>
            <a:ext cx="43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EarlyStopping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: monitor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val_accuracy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, patience=5,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restore_best_weights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=True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ModelCheckpoint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: save best model to disk (monitor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val_accuracy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ReduceLROnPlateau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: halve LR when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val_loss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stagnates (patience=3,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min_lr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=1e-6)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0000" y="78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Why Each Choice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0000" y="110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◆ Label Smoothing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0000" y="134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Prevents overconfident softmax predictions. Model learns calibrated probabilities rather than hard 0/1 targets.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0000" y="171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8B1A1A"/>
                </a:solidFill>
                <a:latin typeface="Century Gothic"/>
              </a:rPr>
              <a:t>◆ Adam 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0000" y="19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Combines momentum + RMSProp. Per-parameter adaptive LR. No need for manual LR tuning. Works well with BatchNorm.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0000" y="232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◆ Balanced Class Weights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0000" y="256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Digit 5 has fewest samples (5,421 vs 6,742 for digit 1). Weights scale loss contribution to equalise learning across classes.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0000" y="293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◆ EarlyStopping + 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0000" y="317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Stops training when val_accuracy plateaus. restore_best_weights ensures final model = best checkpoint, not last epoch.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0000" y="354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◆ ReduceLROnPlateau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0000" y="378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When stuck, halving LR lets optimizer take finer steps to escape flat regions in loss landscape.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0000" y="415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◆ Global Avg Pooling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0000" y="439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Replaces large Flatten→Dense. Reduces params from ~590K to ~77K. Acts as structural regularizer — each feature map averages globally.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00000" y="80000"/>
            <a:ext cx="55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5C"/>
                </a:solidFill>
                <a:latin typeface="Times New Roman"/>
              </a:rPr>
              <a:t>Results — Training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0" y="680000"/>
            <a:ext cx="5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78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Training Curve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1100000"/>
            <a:ext cx="4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Epoch 1:  Train acc 95.4%  |  Val acc 98.7%  (fast initial learning)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Epoch 3:  Train acc 98.1%  |  Val acc 99.0%  (steady improvement)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Epoch 5:  Train acc 98.7%  |  Val acc 99.1%  (validation plateau begins)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Epoch 9:  Train acc 99.3%  |  Val acc 99.2%  (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EarlyStopping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triggered)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Train–Val gap remained &lt; 0.5% throughout all epochs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Loss decreased monotonically — no divergence or instability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ReduceLROnPlateau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halved LR at epoch 7 for final convergence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3554078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What Training Curves Tell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3780000"/>
            <a:ext cx="43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No overfitting: training &amp; validation curves track closely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Dropout (20%, 25%, 35%) prevented co-adaptation of neurons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BatchNormalization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stabilised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gradient flow each epoch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EarlyStopping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saved ~6 unnecessary epochs of compute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Fast convergence validates choice of Adam over SGD</a:t>
            </a:r>
          </a:p>
        </p:txBody>
      </p:sp>
      <p:pic>
        <p:nvPicPr>
          <p:cNvPr id="10" name="Picture 9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000" y="1100000"/>
            <a:ext cx="4200000" cy="1902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50000" y="3200000"/>
            <a:ext cx="42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  <a:latin typeface="Century Gothic"/>
              </a:rPr>
              <a:t>Fig. 1 — Accuracy &amp; Loss curves across 9 epochs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650000" y="3500000"/>
          <a:ext cx="42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Epoch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Train Acc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Val Acc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Train Loss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Val Loss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95.4%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0.1580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0.0521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98.1%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99.0%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0.0720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0.0390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0.0510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0.0340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33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99.1%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99.2%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0.0380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0.0315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3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9*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99.3%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0.0290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0.0304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50000" y="4950000"/>
            <a:ext cx="4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entury Gothic"/>
              </a:rPr>
              <a:t>* EarlyStopping triggered at Epoch 9 (patience=5)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00000" y="80000"/>
            <a:ext cx="51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5C"/>
                </a:solidFill>
                <a:latin typeface="Times New Roman"/>
              </a:rPr>
              <a:t>Results — Test Set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00000" y="680000"/>
            <a:ext cx="5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0000" y="800000"/>
            <a:ext cx="1950000" cy="800000"/>
          </a:xfrm>
          <a:prstGeom prst="roundRect">
            <a:avLst/>
          </a:prstGeom>
          <a:solidFill>
            <a:srgbClr val="2E4A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98.91%</a:t>
            </a:r>
          </a:p>
          <a:p>
            <a:pPr algn="ctr"/>
            <a:r>
              <a:rPr sz="1000">
                <a:solidFill>
                  <a:srgbClr val="CCDDFF"/>
                </a:solidFill>
                <a:latin typeface="Century Gothic"/>
              </a:rPr>
              <a:t>Test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0000" y="800000"/>
            <a:ext cx="1950000" cy="800000"/>
          </a:xfrm>
          <a:prstGeom prst="roundRect">
            <a:avLst/>
          </a:prstGeom>
          <a:solidFill>
            <a:srgbClr val="2E4A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0.0304</a:t>
            </a:r>
          </a:p>
          <a:p>
            <a:pPr algn="ctr"/>
            <a:r>
              <a:rPr sz="1000">
                <a:solidFill>
                  <a:srgbClr val="CCDDFF"/>
                </a:solidFill>
                <a:latin typeface="Century Gothic"/>
              </a:rPr>
              <a:t>Test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000" y="800000"/>
            <a:ext cx="1950000" cy="800000"/>
          </a:xfrm>
          <a:prstGeom prst="roundRect">
            <a:avLst/>
          </a:prstGeom>
          <a:solidFill>
            <a:srgbClr val="2E4A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1.09%</a:t>
            </a:r>
          </a:p>
          <a:p>
            <a:pPr algn="ctr"/>
            <a:r>
              <a:rPr sz="1000">
                <a:solidFill>
                  <a:srgbClr val="CCDDFF"/>
                </a:solidFill>
                <a:latin typeface="Century Gothic"/>
              </a:rPr>
              <a:t>Error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0000" y="800000"/>
            <a:ext cx="1950000" cy="800000"/>
          </a:xfrm>
          <a:prstGeom prst="roundRect">
            <a:avLst/>
          </a:prstGeom>
          <a:solidFill>
            <a:srgbClr val="2E4A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109 / 10,000</a:t>
            </a:r>
          </a:p>
          <a:p>
            <a:pPr algn="ctr"/>
            <a:r>
              <a:rPr sz="1000">
                <a:solidFill>
                  <a:srgbClr val="CCDDFF"/>
                </a:solidFill>
                <a:latin typeface="Century Gothic"/>
              </a:rPr>
              <a:t>Misclassified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000" y="1786150"/>
            <a:ext cx="87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entury Gothic"/>
              </a:rPr>
              <a:t>Per-Class Classification Report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775384"/>
              </p:ext>
            </p:extLst>
          </p:nvPr>
        </p:nvGraphicFramePr>
        <p:xfrm>
          <a:off x="200000" y="2080000"/>
          <a:ext cx="8700000" cy="1960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Digit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Precision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Recall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F1-Score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Support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Per-Class Acc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98.67%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0.9938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0.9947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0.9943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1,135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99.21%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0.9799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0.9870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1,032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98.35%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0.9911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0.9901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1,010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99.70%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0.9928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0.9898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98.88%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0.9757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0.9833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892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98.32%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0.9947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0.9802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0.9874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958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98.12%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0.9903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0.9893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0.9898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1,028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99.61%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0.9877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974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99.49%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442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0.9910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0.9792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0.9850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1,009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98.61%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44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Weighted Avg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98.91%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00000" y="4076751"/>
            <a:ext cx="8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Highest recall: Digit 1 (99.47%) — simple straight vertical stroke is unambiguous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Lowest recall:  Digit 9 (97.92%) — top loop confused with digit 4's angled top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Lowest precision: Digit 5 (97.57%) — curved bottom similar to digits 3 and 6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All 10 classes exceed 98.1% per-class accuracy — no single class dominates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82800" y="139692"/>
            <a:ext cx="713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Results — Confusion Matrix &amp;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680000"/>
            <a:ext cx="63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76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Confusion Matrix Analysis</a:t>
            </a:r>
          </a:p>
        </p:txBody>
      </p:sp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0" y="1050001"/>
            <a:ext cx="4200000" cy="235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000" y="3353322"/>
            <a:ext cx="41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  <a:latin typeface="Century Gothic"/>
              </a:rPr>
              <a:t>Fig. 2 — Confusion Matrix (10,000 test samples)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000" y="796971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Common Error Patterns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105315"/>
              </p:ext>
            </p:extLst>
          </p:nvPr>
        </p:nvGraphicFramePr>
        <p:xfrm>
          <a:off x="4788000" y="1090000"/>
          <a:ext cx="4300000" cy="1856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856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True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Predicted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Count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Reason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51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Similar curved bottom strokes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1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Top loop ≈ angled top of 4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1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Open-top 9 resembles 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51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Slanted ovals look like 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51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Closed-top 4 resembles 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515"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Diagonal stroke of 7 ≈ 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50000" y="947578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Key 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1277578"/>
            <a:ext cx="4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Proposed CNN outperforms ALL traditional methods (k-NN, SVM, MLP)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Only 77K parameters vs 236K in MLP — 3× more efficient!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Achieves 98.91% with simple architecture — no GPU required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Misclassifications are mostly genuinely ambiguous handwriting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Balanced class weights eliminated previous digit-8 bias issue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Global Avg Pooling reduces overfitting vs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Flatten+Dense</a:t>
            </a:r>
            <a:endParaRPr sz="1100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15" name="Picture 14" descr="per_clas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99" y="3305378"/>
            <a:ext cx="5493239" cy="18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C27872-EE7F-1534-6C8C-B515AD24847C}"/>
              </a:ext>
            </a:extLst>
          </p:cNvPr>
          <p:cNvSpPr txBox="1"/>
          <p:nvPr/>
        </p:nvSpPr>
        <p:spPr>
          <a:xfrm>
            <a:off x="982800" y="139692"/>
            <a:ext cx="7134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Results — Confusion Matrix &amp; Comparison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6C2243-9BD2-C7EE-16F1-E122381D2A5F}"/>
              </a:ext>
            </a:extLst>
          </p:cNvPr>
          <p:cNvSpPr/>
          <p:nvPr/>
        </p:nvSpPr>
        <p:spPr>
          <a:xfrm>
            <a:off x="1400000" y="680000"/>
            <a:ext cx="63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7064" y="893145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Performance vs Baseline Methods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662689"/>
              </p:ext>
            </p:extLst>
          </p:nvPr>
        </p:nvGraphicFramePr>
        <p:xfrm>
          <a:off x="4847064" y="1453378"/>
          <a:ext cx="4200000" cy="2014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64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Method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Test Acc (%)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Params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Notes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7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k-NN (baseline)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96.9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No spatial awareness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27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SVM (RBF kernel)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Manual HOG features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17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MLP (784-256-128)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97.8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~236K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Loses spatial info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27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Proposed CNN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98.91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~77K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Auto feature learning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27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LeNet-5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~60K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More complex training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27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Deep CNN (2010)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99.65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~10M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10M params, GPU needed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276"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Ensemble CNNs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99.83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×5M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5 models combined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7648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67688" y="82180"/>
            <a:ext cx="680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Results — Web Application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000" y="680000"/>
            <a:ext cx="59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78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Streamlit App — DigitAI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1100000"/>
            <a:ext cx="43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Built with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Streamlit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+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streamlit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-drawable-canvas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4 tabs: Draw Canvas | Upload Image | History | Model Info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Draw tab: 280×280 HTML5 canvas, black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bg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, white stroke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Real-time prediction: &lt; 5ms per image after model load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Model cached with @st.cache_resource — no reload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2855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Inference Preprocessing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3185000"/>
            <a:ext cx="43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B3A5C"/>
                </a:solidFill>
                <a:latin typeface="Consolas"/>
              </a:rPr>
              <a:t>1. Canvas RGBA → grayscale (PIL .convert('L'))
2. Detect background polarity → invert if needed
3. Fit digit in 20×20 preserving aspect ratio (thumbnail)
4. Centre on 28×28 black canvas (4px padding = MNIST style)
5. Normalize ÷ 255 → reshape (1,28,28,1)
6. 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model.predict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() → </a:t>
            </a:r>
            <a:r>
              <a:rPr sz="1000" b="0" i="0" dirty="0" err="1">
                <a:solidFill>
                  <a:srgbClr val="1B3A5C"/>
                </a:solidFill>
                <a:latin typeface="Consolas"/>
              </a:rPr>
              <a:t>softmax</a:t>
            </a:r>
            <a:r>
              <a:rPr sz="1000" b="0" i="0" dirty="0">
                <a:solidFill>
                  <a:srgbClr val="1B3A5C"/>
                </a:solidFill>
                <a:latin typeface="Consolas"/>
              </a:rPr>
              <a:t> probs → argmax = digit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2" y="78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Performance Benchmarks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125068"/>
              </p:ext>
            </p:extLst>
          </p:nvPr>
        </p:nvGraphicFramePr>
        <p:xfrm>
          <a:off x="4644000" y="1371750"/>
          <a:ext cx="4300000" cy="181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89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9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Single inference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&lt; 5 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9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Model load (first)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~1-2 seconds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776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Model file size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~1.5 MB (.keras)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9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Memory usage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~50 MB (prediction)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95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Training time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~8 min (CPU)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44000" y="2777532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CLI Prediction Utility (predict.py)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1390336"/>
            <a:ext cx="4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B3A5C"/>
                </a:solidFill>
                <a:latin typeface="Consolas"/>
              </a:rPr>
              <a:t>python predict.py my_digit.png
Auto-preprocessing:
• Grayscale conversion
• Background inversion detection
• Lanczos resize to 28×28
• Text-based probability bar output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468057"/>
              </p:ext>
            </p:extLst>
          </p:nvPr>
        </p:nvGraphicFramePr>
        <p:xfrm>
          <a:off x="544000" y="1390336"/>
          <a:ext cx="4200000" cy="1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Deployment Option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Stack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Use Case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Streamlit 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Python + </a:t>
                      </a:r>
                      <a:r>
                        <a:rPr sz="800" dirty="0" err="1">
                          <a:solidFill>
                            <a:srgbClr val="000000"/>
                          </a:solidFill>
                          <a:latin typeface="Century Gothic"/>
                        </a:rPr>
                        <a:t>Streamlit</a:t>
                      </a:r>
                      <a:endParaRPr sz="800" dirty="0">
                        <a:solidFill>
                          <a:srgbClr val="000000"/>
                        </a:solidFill>
                        <a:latin typeface="Century Gothic"/>
                      </a:endParaRP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Interactive demo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CLI Tool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Python + PIL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Batch inference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Flask API (future)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Flask + REST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Production backend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TFLite (future)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00000"/>
                          </a:solidFill>
                          <a:latin typeface="Century Gothic"/>
                        </a:rPr>
                        <a:t>TensorFlow Lite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dirty="0">
                          <a:solidFill>
                            <a:srgbClr val="000000"/>
                          </a:solidFill>
                          <a:latin typeface="Century Gothic"/>
                        </a:rPr>
                        <a:t>Mobile/Edge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4000" y="832868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Output Display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00" y="3194728"/>
            <a:ext cx="42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Predicted digit in large gradient circular badge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Confidence % shown below prediction badge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Horizontal bar chart: probability for all 10 classes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Top prediction highlighted in purple-blue gradient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Multi-digit mode: connected-component segmentation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History tab: last 50 predictions, exportable as CSV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Challenge Mode: random digit prompt for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A7CD62-3131-4A2D-0368-FDF3C1669DF4}"/>
              </a:ext>
            </a:extLst>
          </p:cNvPr>
          <p:cNvSpPr txBox="1"/>
          <p:nvPr/>
        </p:nvSpPr>
        <p:spPr>
          <a:xfrm>
            <a:off x="1167688" y="82180"/>
            <a:ext cx="680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1B3A5C"/>
                </a:solidFill>
                <a:latin typeface="Times New Roman"/>
              </a:rPr>
              <a:t>Results — Web Application Deployment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94F256-D6AC-D672-6087-AB7FDF05B5D0}"/>
              </a:ext>
            </a:extLst>
          </p:cNvPr>
          <p:cNvSpPr/>
          <p:nvPr/>
        </p:nvSpPr>
        <p:spPr>
          <a:xfrm>
            <a:off x="1600000" y="680000"/>
            <a:ext cx="59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4464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0000" y="80000"/>
            <a:ext cx="47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5C"/>
                </a:solidFill>
                <a:latin typeface="Times New Roman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00000" y="680000"/>
            <a:ext cx="47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680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Summary of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000" y="945000"/>
            <a:ext cx="4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CNN achieves 98.91% test accuracy on 10,000 MNIST test images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All 10 digit classes exceed 98.1% per-class accuracy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Only 77K parameters — lightweight and fast (&lt; 5ms inference)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Outperforms k-NN (96.9%), SVM (98.6%), MLP (97.8%)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End-to-end pipeline: data preprocessing → training → deployment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Working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Streamlit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web app with real-time canvas drawing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Critical bug fixed: aspect-ratio preservation in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" y="3145000"/>
            <a:ext cx="43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8B1A1A"/>
                </a:solidFill>
                <a:latin typeface="Century Gothic"/>
              </a:rPr>
              <a:t>Key Technical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000" y="3347005"/>
            <a:ext cx="43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Dual-block CNN with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BatchNorm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after every Conv layer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GlobalAveragePooling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replacing Flatten → 3× fewer params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Train-only augmentation via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ImageDataGenerator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(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val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safe)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Balanced class weights (capped 1.3×) for uniform learning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Label smoothing (0.05) for calibrated probability outputs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Reproducible pipeline with </a:t>
            </a:r>
            <a:r>
              <a:rPr sz="1100" dirty="0" err="1">
                <a:solidFill>
                  <a:srgbClr val="000000"/>
                </a:solidFill>
                <a:latin typeface="Century Gothic"/>
              </a:rPr>
              <a:t>EarlyStopping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 + best-weight restore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0" y="78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entury Gothic"/>
              </a:rPr>
              <a:t>Future Work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0" y="1100000"/>
            <a:ext cx="4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Multi-Digit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0" y="133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Segment digit sequences (phone numbers, ZIP codes) using connected-component labeling or YOLO.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0" y="1680000"/>
            <a:ext cx="4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Data Augmentation++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0" y="191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Elastic distortions, perspective transforms, and Mixup augmentation for better generalisation.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00" y="2260000"/>
            <a:ext cx="4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Deeper Architectures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00" y="249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ResNet skip connections, SE-Net channel attention, or Vision Transformer for potential 99.5%+ accuracy.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00" y="2840000"/>
            <a:ext cx="4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TFLite Mobile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00" y="307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Quantise model (int8) for iOS/Android deployment. Estimated 75% size reduction, 99%+ accuracy retained.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00" y="3420000"/>
            <a:ext cx="4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Extended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0000" y="365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Train on EMNIST (letters+digits), SVHN (real photos), and USPS for domain-robust recognition.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00" y="4000000"/>
            <a:ext cx="42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entury Gothic"/>
              </a:rPr>
              <a:t>▸ Ensemble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0000" y="4230000"/>
            <a:ext cx="4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5C"/>
                </a:solidFill>
                <a:latin typeface="Century Gothic"/>
              </a:rPr>
              <a:t>Average predictions from 3-5 models with different seeds. Typically improves accuracy by 0.1-0.3%.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00000" y="80000"/>
            <a:ext cx="23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B3A5C"/>
                </a:solidFill>
                <a:latin typeface="Times New Roman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0000" y="680000"/>
            <a:ext cx="7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780000"/>
            <a:ext cx="43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[1] R.Plamondon &amp; S.N.Srihari, 'Online/offline handwriting recognition,' IEEE TPAMI, 2000.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[2] Y.LeCun, Y.Bengio &amp; G.Hinton, 'Deep learning,' Nature, vol.521, 2015.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[3] I.Goodfellow et al., Deep Learning, MIT Press, 2016.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[4] Y.LeCun et al., 'Gradient-based learning applied to document recognition,' Proc. IEEE, 1998.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[5] A.Krizhevsky et al., 'ImageNet classification with deep CNNs,' NeurIPS, 2012.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[6] N.Srivastava et al., 'Dropout: prevent NNs from overfitting,' JMLR, vol.15, 2014.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[7] S.Ioffe &amp; C.Szegedy, 'Batch Normalization,' Proc. ICML, 2015.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>
                <a:solidFill>
                  <a:srgbClr val="000000"/>
                </a:solidFill>
                <a:latin typeface="Century Gothic"/>
              </a:rPr>
              <a:t>[8] D.P.Kingma &amp; J.Ba, 'Adam: A method for stochastic optimization,' ICLR, 2015.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00" y="780000"/>
            <a:ext cx="42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[9] 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K.He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et al., 'Deep Residual Learning for Image Recognition,' CVPR, 2016.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[10]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D.C.Ciresan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et al., 'Deep big simple neural nets for HDR,' Neural Computation, 2010.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[11]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L.Wan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et al., 'Regularization using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DropConnect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,' Proc. ICML, 2013.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[12]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S.Sabour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et al., 'Dynamic routing between capsules,'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NeurIPS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 2017.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[13]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V.Nair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&amp;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G.E.Hinton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 'Rectified linear units,' Proc. ICML, 2010.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[14]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K.Simonyan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&amp;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A.Zisserman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 'Very deep CNNs,' Proc. ICLR, 2015.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[15]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Streamlit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Inc., '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Streamlit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: fastest way to build data apps,' streamlit.io, 2023.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[16]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F.Chollet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et al., '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Keras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,' keras.io, 2015.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" y="900000"/>
            <a:ext cx="914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1B3A5C"/>
                </a:solidFill>
                <a:latin typeface="Times New Roman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00000"/>
            <a:ext cx="914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53010"/>
                </a:solidFill>
                <a:latin typeface="Century Gothic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0" y="2176253"/>
            <a:ext cx="5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dirty="0"/>
          </a:p>
          <a:p>
            <a:pPr algn="ctr">
              <a:spcBef>
                <a:spcPts val="200"/>
              </a:spcBef>
            </a:pPr>
            <a:r>
              <a:rPr sz="1800" b="1" dirty="0">
                <a:solidFill>
                  <a:srgbClr val="000000"/>
                </a:solidFill>
                <a:latin typeface="Century Gothic"/>
              </a:rPr>
              <a:t>Abhay Singh</a:t>
            </a:r>
          </a:p>
          <a:p>
            <a:pPr algn="ctr">
              <a:spcBef>
                <a:spcPts val="200"/>
              </a:spcBef>
            </a:pPr>
            <a:r>
              <a:rPr sz="1300" b="0" dirty="0">
                <a:solidFill>
                  <a:srgbClr val="000000"/>
                </a:solidFill>
                <a:latin typeface="Century Gothic"/>
              </a:rPr>
              <a:t>Department of Computer Science</a:t>
            </a:r>
          </a:p>
          <a:p>
            <a:pPr algn="ctr">
              <a:spcBef>
                <a:spcPts val="200"/>
              </a:spcBef>
            </a:pPr>
            <a:r>
              <a:rPr sz="1300" b="0" dirty="0">
                <a:solidFill>
                  <a:srgbClr val="000000"/>
                </a:solidFill>
                <a:latin typeface="Century Gothic"/>
              </a:rPr>
              <a:t>COER University, Roorkee, India</a:t>
            </a:r>
          </a:p>
          <a:p>
            <a:pPr algn="ctr">
              <a:spcBef>
                <a:spcPts val="200"/>
              </a:spcBef>
            </a:pPr>
            <a:endParaRPr sz="1300" b="0" dirty="0">
              <a:solidFill>
                <a:srgbClr val="000000"/>
              </a:solidFill>
              <a:latin typeface="Century Gothic"/>
            </a:endParaRPr>
          </a:p>
          <a:p>
            <a:pPr algn="ctr">
              <a:spcBef>
                <a:spcPts val="200"/>
              </a:spcBef>
            </a:pPr>
            <a:r>
              <a:rPr sz="1300" b="0" dirty="0">
                <a:solidFill>
                  <a:srgbClr val="2E75B6"/>
                </a:solidFill>
                <a:latin typeface="Century Gothic"/>
              </a:rPr>
              <a:t>abhaychauhan5051a@gmail.com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3117</Words>
  <Application>Microsoft Office PowerPoint</Application>
  <PresentationFormat>On-screen Show (16:9)</PresentationFormat>
  <Paragraphs>479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Noto Sans Symbols</vt:lpstr>
      <vt:lpstr>Century Gothic</vt:lpstr>
      <vt:lpstr>Calibri Light</vt:lpstr>
      <vt:lpstr>Times New Roman</vt:lpstr>
      <vt:lpstr>Calibri</vt:lpstr>
      <vt:lpstr>Arial</vt:lpstr>
      <vt:lpstr>Consolas</vt:lpstr>
      <vt:lpstr>Office Theme</vt:lpstr>
      <vt:lpstr>PowerPoint Presentation</vt:lpstr>
      <vt:lpstr>TABLE OF CONTENTS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ABHAY CHAUHAN</cp:lastModifiedBy>
  <cp:revision>9</cp:revision>
  <dcterms:modified xsi:type="dcterms:W3CDTF">2026-05-15T01:02:58Z</dcterms:modified>
</cp:coreProperties>
</file>